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PARALLEL &amp; GPU COMPUTING (PGC) LAB EVALUATION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OpenMP vs. MPI for Data Processing</a:t>
            </a:r>
          </a:p>
          <a:p>
            <a:pPr>
              <a:spcBef>
                <a:spcPts val="1400"/>
              </a:spcBef>
              <a:defRPr sz="1800">
                <a:solidFill>
                  <a:srgbClr val="94A3B8"/>
                </a:solidFill>
              </a:defRPr>
            </a:pPr>
            <a:r>
              <a:t>Empirical Benchmarking of Array Transformation &amp; Reduction on a 100M-Element Dataset</a:t>
            </a:r>
          </a:p>
          <a:p>
            <a:pPr>
              <a:spcBef>
                <a:spcPts val="5000"/>
              </a:spcBef>
              <a:defRPr sz="1200">
                <a:solidFill>
                  <a:srgbClr val="818CF8"/>
                </a:solidFill>
              </a:defRPr>
            </a:pPr>
            <a:r>
              <a:t>Author: Kartik  |  Platform: x86_64 WSL2 Ubuntu (Linux)  |  Toolchain: GCC 13 (-O3), MPICH 4.3.2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PGC LAB EVALUATION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Computational Kernel &amp; Experimental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Workload &amp; Invariant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Dataset: N = 100,000,000 double-precision values (~800 MB footprint).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Kernel Operation: total = sum(A[i] * 2.0 + 1.5) where A[i] = 1.0.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Expected Mathematical Result: 350,000,000.00.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Verification: Every execution run verified for exact numerical consistency.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Optimization: All binaries compiled with GCC -O3.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18CF8"/>
                </a:solidFill>
              </a:defRPr>
            </a:pPr>
            <a:r>
              <a:t>Parallel Computing Models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OpenMP (Shared Memory):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  - Multi-threaded execution across 2, 4, and 8 threads.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  - Single heap allocation; omp parallel for reduction(+:total).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  - Communication: Implicit through L1-L3 cache coherence.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MPI (Distributed / Shared-Nothing):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  - Multi-process execution across 2, 4, and 8 rank processes.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  - Private heap allocation per rank (local_n = N / size).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  - Communication: Explicit MPI_Reduce tree synchronization to Rank 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PGC LAB EVALUATION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Empirical Benchmark Results (100M Elements)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Paradigm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Cores / Units (p)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Wall Time (s)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Speedup (Sp)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Efficiency (Ep)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Validation Result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18CF8"/>
                          </a:solidFill>
                        </a:defRPr>
                      </a:pPr>
                      <a:r>
                        <a:t>Sequential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0.0653 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350000000.00 (Pass)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18CF8"/>
                          </a:solidFill>
                        </a:defRPr>
                      </a:pPr>
                      <a:r>
                        <a:t>OpenMP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0.0434 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1.50x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75.2%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350000000.00 (Pass)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18CF8"/>
                          </a:solidFill>
                        </a:defRPr>
                      </a:pPr>
                      <a:r>
                        <a:t>OpenMP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0.0327 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2.00x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49.9%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350000000.00 (Pass)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18CF8"/>
                          </a:solidFill>
                        </a:defRPr>
                      </a:pPr>
                      <a:r>
                        <a:t>OpenMP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0.0250 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4D399"/>
                          </a:solidFill>
                        </a:defRPr>
                      </a:pPr>
                      <a:r>
                        <a:t>2.61x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32.7%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350000000.00 (Pass)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18CF8"/>
                          </a:solidFill>
                        </a:defRPr>
                      </a:pPr>
                      <a:r>
                        <a:t>MPI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0.0378 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4D399"/>
                          </a:solidFill>
                        </a:defRPr>
                      </a:pPr>
                      <a:r>
                        <a:t>1.73x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86.4%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350000000.00 (Pass)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18CF8"/>
                          </a:solidFill>
                        </a:defRPr>
                      </a:pPr>
                      <a:r>
                        <a:t>MPI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0.0249 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4D399"/>
                          </a:solidFill>
                        </a:defRPr>
                      </a:pPr>
                      <a:r>
                        <a:t>2.62x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65.6%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350000000.00 (Pass)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18CF8"/>
                          </a:solidFill>
                        </a:defRPr>
                      </a:pPr>
                      <a:r>
                        <a:t>MPI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0.0246 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4D399"/>
                          </a:solidFill>
                        </a:defRPr>
                      </a:pPr>
                      <a:r>
                        <a:t>2.65x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33.2%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350000000.00 (Pass)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PGC LAB EVALUATION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Scalability, Cache &amp; Memory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t>Why MPI Outperformed OpenMP at 2 &amp; 4 Cores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At p = 2: MPI attained 1.73x speedup vs. OpenMP's 1.50x.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At p = 4: MPI reached 2.62x, matching 8-thread OpenMP at half the core count.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Private Memory Spaces: Each MPI process allocates its own private chunk, maximizing L1/L2 cache spatial locality.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No Bus Locking: OpenMP threads access regions of the same heap array, leading to memory bus arbitration and cache line invalidation overhead.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818CF8"/>
                </a:solidFill>
              </a:defRPr>
            </a:pPr>
            <a:r>
              <a:t>The 8-Process Saturation Ceiling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MPI plateaued from 4 to 8 processes (0.0249 s -&gt; 0.0246 s).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IPC Overhead: In a single WSL VM, communication between 8 distinct MPI ranks via shared memory pipes introduces synchronization latency in MPI_Reduce.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Memory Bandwidth Limit: 100M double precision numbers (800 MB) saturated the main memory bus bandwidth of the host CPU.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Takeaway: Once computation time drops to ~24 milliseconds, process coordination overhead equals compute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PGC LAB EVALUATION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Architecture Synthesis &amp; Evaluation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Key Takeaways for Lab Defense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✔ Data Correctness: Invariant 350000000.00 maintained across all 7 execution runs, verifying zero race conditions in OpenMP reduction and MPI_Reduce.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✔ When to use OpenMP: Ideal for single-node multi-core tasks where memory footprint must be minimized (in-place processing without process data replication).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✔ When to use MPI: Superior for scaling out across distributed nodes or when memory isolation delivers better cache performance despite IPC overhead.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✔ Modern HPC Recommendation (Hybrid Model): Use MPI across cluster compute nodes, and OpenMP across CPU cores within each node (eliminating inter-core IPC while scaling out).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