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1FFDE41-9854-7880-5896-2E8581377EB0}">
          <p14:sldIdLst>
            <p14:sldId id="256"/>
          </p14:sldIdLst>
        </p14:section>
        <p14:section name="Problem" id="{CA31BB6C-134E-CFDD-60FB-BD41785D253D}">
          <p14:sldIdLst>
            <p14:sldId id="257"/>
          </p14:sldIdLst>
        </p14:section>
        <p14:section name="Design" id="{0D745960-D43F-E4CD-204B-27DE6563D080}">
          <p14:sldIdLst>
            <p14:sldId id="258"/>
          </p14:sldIdLst>
        </p14:section>
        <p14:section name="Results" id="{FD8A3801-979D-B4FC-FEA7-CBC8603C1D85}">
          <p14:sldIdLst>
            <p14:sldId id="259"/>
            <p14:sldId id="260"/>
            <p14:sldId id="261"/>
            <p14:sldId id="262"/>
          </p14:sldIdLst>
        </p14:section>
        <p14:section name="Conclusion" id="{C72651A8-E77C-E85F-8F46-758888D87534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ik Hegde" userId="42350cb99746de20" providerId="LiveId" clId="{3EB56A58-51B4-4957-A7EF-E6EAE52253AA}"/>
    <pc:docChg chg="undo custSel modSld">
      <pc:chgData name="Kartik Hegde" userId="42350cb99746de20" providerId="LiveId" clId="{3EB56A58-51B4-4957-A7EF-E6EAE52253AA}" dt="2026-10-09T13:35:04.785" v="7" actId="20577"/>
      <pc:docMkLst>
        <pc:docMk/>
      </pc:docMkLst>
      <pc:sldChg chg="delSp mod">
        <pc:chgData name="Kartik Hegde" userId="42350cb99746de20" providerId="LiveId" clId="{3EB56A58-51B4-4957-A7EF-E6EAE52253AA}" dt="2026-10-09T13:34:36.203" v="0" actId="21"/>
        <pc:sldMkLst>
          <pc:docMk/>
          <pc:sldMk cId="0" sldId="256"/>
        </pc:sldMkLst>
        <pc:spChg chg="del">
          <ac:chgData name="Kartik Hegde" userId="42350cb99746de20" providerId="LiveId" clId="{3EB56A58-51B4-4957-A7EF-E6EAE52253AA}" dt="2026-10-09T13:34:36.203" v="0" actId="21"/>
          <ac:spMkLst>
            <pc:docMk/>
            <pc:sldMk cId="0" sldId="256"/>
            <ac:spMk id="11" creationId="{00000000-0000-0000-0000-000000000000}"/>
          </ac:spMkLst>
        </pc:spChg>
      </pc:sldChg>
      <pc:sldChg chg="modSp mod">
        <pc:chgData name="Kartik Hegde" userId="42350cb99746de20" providerId="LiveId" clId="{3EB56A58-51B4-4957-A7EF-E6EAE52253AA}" dt="2026-10-09T13:35:04.785" v="7" actId="20577"/>
        <pc:sldMkLst>
          <pc:docMk/>
          <pc:sldMk cId="0" sldId="263"/>
        </pc:sldMkLst>
        <pc:spChg chg="mod">
          <ac:chgData name="Kartik Hegde" userId="42350cb99746de20" providerId="LiveId" clId="{3EB56A58-51B4-4957-A7EF-E6EAE52253AA}" dt="2026-10-09T13:35:04.785" v="7" actId="2057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Kartik Hegde" userId="42350cb99746de20" providerId="LiveId" clId="{3EB56A58-51B4-4957-A7EF-E6EAE52253AA}" dt="2026-10-09T13:34:45.813" v="2" actId="20577"/>
          <ac:spMkLst>
            <pc:docMk/>
            <pc:sldMk cId="0" sldId="263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304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Theme: OpenMP vs MPI for data processing. Same operation, three implementations. Colour code used on every graph: blue = OpenMP, orange = MPI.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Dataset: four months of NYC yellow-taxi CSVs (Jan 2015, Jan-Mar 2016). Only trip_distance was extracted into one binary file of 47,248,723 doubles. Results are identical across sequential, OpenMP and MPI, which validates the parallel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design difference: OpenMP threads already share the array; MPI must scatter 378 MB from rank 0 to the other processes. That scatter is a serial cost that does not shrink as processes are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dataset, mean of 5 runs. Speedup = sequential time / parallel time. MPI never exceeds 0.49x in the light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Efficiency = speedup / workers. At 12 workers, hyperthreads and efficiency cores add little.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 0 must send all 378 MB regardless of process count, which acts as a serial fraction (Amdahl). At 12 processes communication rises to 0.79 s in heavy mode because processes outnumber physical 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data: thread start-up and messaging overhead dominate. Larger data: compute grows with N, but MPI scatter cost grows with 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conclusion: parallelism pays off only when computation per byte moved is large enough. Cluster run to be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PGC MINI PROJECT</a:t>
            </a:r>
            <a:endParaRPr lang="en-US" sz="14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OpenMP vs MPI for Data Processing</a:t>
            </a:r>
            <a:endParaRPr lang="en-US" sz="40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27432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 operations, three implementations: sequential, shared-memory (OpenMP) and distributed-memory (MPI)</a:t>
            </a:r>
            <a:endParaRPr lang="en-US" sz="1800" dirty="0"/>
          </a:p>
        </p:txBody>
      </p:sp>
      <p:sp>
        <p:nvSpPr>
          <p:cNvPr id="5" name="OpenMP dot"/>
          <p:cNvSpPr/>
          <p:nvPr/>
        </p:nvSpPr>
        <p:spPr>
          <a:xfrm>
            <a:off x="548640" y="393192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39319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</a:t>
            </a:r>
            <a:endParaRPr lang="en-US" sz="1400" dirty="0"/>
          </a:p>
        </p:txBody>
      </p:sp>
      <p:sp>
        <p:nvSpPr>
          <p:cNvPr id="7" name="MPI dot"/>
          <p:cNvSpPr/>
          <p:nvPr/>
        </p:nvSpPr>
        <p:spPr>
          <a:xfrm>
            <a:off x="2148840" y="3931920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39319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3931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and GPU Computing (26ECAC304)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and dataset</a:t>
            </a:r>
            <a:endParaRPr lang="en-US" sz="3000" dirty="0"/>
          </a:p>
        </p:txBody>
      </p:sp>
      <p:sp>
        <p:nvSpPr>
          <p:cNvPr id="3" name="Stat card 1"/>
          <p:cNvSpPr/>
          <p:nvPr/>
        </p:nvSpPr>
        <p:spPr>
          <a:xfrm>
            <a:off x="457200" y="1143000"/>
            <a:ext cx="2011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47.2 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trip-distance records</a:t>
            </a:r>
            <a:endParaRPr lang="en-US" sz="1200" dirty="0"/>
          </a:p>
        </p:txBody>
      </p:sp>
      <p:sp>
        <p:nvSpPr>
          <p:cNvPr id="6" name="Stat card 2"/>
          <p:cNvSpPr/>
          <p:nvPr/>
        </p:nvSpPr>
        <p:spPr>
          <a:xfrm>
            <a:off x="2606040" y="1143000"/>
            <a:ext cx="2011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325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378 MB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array of doubles</a:t>
            </a:r>
            <a:endParaRPr lang="en-US" sz="1200" dirty="0"/>
          </a:p>
        </p:txBody>
      </p:sp>
      <p:sp>
        <p:nvSpPr>
          <p:cNvPr id="9" name="Stat card 3"/>
          <p:cNvSpPr/>
          <p:nvPr/>
        </p:nvSpPr>
        <p:spPr>
          <a:xfrm>
            <a:off x="457200" y="2743200"/>
            <a:ext cx="2011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926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files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611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Yellow Taxi, 6.9 GB CSV</a:t>
            </a:r>
            <a:endParaRPr lang="en-US" sz="1200" dirty="0"/>
          </a:p>
        </p:txBody>
      </p:sp>
      <p:sp>
        <p:nvSpPr>
          <p:cNvPr id="12" name="Stat card 4"/>
          <p:cNvSpPr/>
          <p:nvPr/>
        </p:nvSpPr>
        <p:spPr>
          <a:xfrm>
            <a:off x="2606040" y="2743200"/>
            <a:ext cx="2011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2926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3611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rows removed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(one pass over the array)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150876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0, light: 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min, max, mean, std, trips over 10 miles, histogram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1, heavy: 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0 plus log-transform mean and std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modes?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2918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 does about 10x more arithmetic per byte than mode 0. That lets us test when parallelism pays off.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41605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baseline: read the file, one loop over all N values, update the running statistics.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design and setup</a:t>
            </a:r>
            <a:endParaRPr lang="en-US" sz="3000" dirty="0"/>
          </a:p>
        </p:txBody>
      </p:sp>
      <p:sp>
        <p:nvSpPr>
          <p:cNvPr id="3" name="OpenMP card"/>
          <p:cNvSpPr/>
          <p:nvPr/>
        </p:nvSpPr>
        <p:spPr>
          <a:xfrm>
            <a:off x="457200" y="1097280"/>
            <a:ext cx="39776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OpenMP dot"/>
          <p:cNvSpPr/>
          <p:nvPr/>
        </p:nvSpPr>
        <p:spPr>
          <a:xfrm>
            <a:off x="640080" y="126187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2344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OpenMP: shared memory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threads see one array in memory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split among threads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results merged at the end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movement</a:t>
            </a:r>
            <a:endParaRPr lang="en-US" sz="1400" dirty="0"/>
          </a:p>
        </p:txBody>
      </p:sp>
      <p:sp>
        <p:nvSpPr>
          <p:cNvPr id="7" name="MPI card"/>
          <p:cNvSpPr/>
          <p:nvPr/>
        </p:nvSpPr>
        <p:spPr>
          <a:xfrm>
            <a:off x="4709160" y="1097280"/>
            <a:ext cx="39776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PI dot"/>
          <p:cNvSpPr/>
          <p:nvPr/>
        </p:nvSpPr>
        <p:spPr>
          <a:xfrm>
            <a:off x="4892040" y="1261872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0" y="12344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MPI: distributed memory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69164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0 reads the file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array split across processes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computes on its chunk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Reduce: partial results sent back to rank 0</a:t>
            </a:r>
            <a:endParaRPr lang="en-US" sz="1400" dirty="0"/>
          </a:p>
        </p:txBody>
      </p:sp>
      <p:sp>
        <p:nvSpPr>
          <p:cNvPr id="11" name="Setup strip"/>
          <p:cNvSpPr/>
          <p:nvPr/>
        </p:nvSpPr>
        <p:spPr>
          <a:xfrm>
            <a:off x="457200" y="3611880"/>
            <a:ext cx="82296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703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SETUP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5935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i5-12450H (12 logical CPUs), 7.6 GB RAM, WSL2 Ubuntu 24.04, GCC 13.3 -O2, Open MPI 4.1.6. Sizes: 1, 5, 10, 25, 47.2 M records. Workers: 1, 2, 4, 8, 12. Every point is the mean of 5 runs. Parallel time excludes file reading; MPI time includes scatter, compute and reduce.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Speedup vs sequential</a:t>
            </a:r>
            <a:endParaRPr lang="en-US" sz="3000" dirty="0"/>
          </a:p>
        </p:txBody>
      </p:sp>
      <p:pic>
        <p:nvPicPr>
          <p:cNvPr id="3" name="Graph" descr="Speedup vs sequential grap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05840"/>
            <a:ext cx="7863840" cy="31455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245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peaks at 3.96x (heavy, 8 threads) and 3.45x (light, 4 threads)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peaks at 2.17x (heavy, 4 procs) and is slower than sequential on the light operation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</a:t>
            </a:r>
            <a:endParaRPr lang="en-US" sz="3000" dirty="0"/>
          </a:p>
        </p:txBody>
      </p:sp>
      <p:pic>
        <p:nvPicPr>
          <p:cNvPr id="3" name="Graph" descr="Efficiency grap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05840"/>
            <a:ext cx="7863840" cy="31455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245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heavy: 49% efficient at 8 threads; MPI: only 26%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fall at 12 workers: the CPU has 8 physical cores (4 performance + 4 efficiency) with 12 threads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MPI loses time</a:t>
            </a:r>
            <a:endParaRPr lang="en-US" sz="3000" dirty="0"/>
          </a:p>
        </p:txBody>
      </p:sp>
      <p:pic>
        <p:nvPicPr>
          <p:cNvPr id="3" name="Graph" descr="Where MPI loses time grap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05840"/>
            <a:ext cx="7863840" cy="31455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245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compute keeps shrinking (heavy: 1.11 s to 0.21 s) but communication does not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8 processes, communication is 47% of MPI time (heavy) and 90% (light)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 of data size (8 workers)</a:t>
            </a:r>
            <a:endParaRPr lang="en-US" sz="3000" dirty="0"/>
          </a:p>
        </p:txBody>
      </p:sp>
      <p:pic>
        <p:nvPicPr>
          <p:cNvPr id="3" name="Graph" descr="Effect of data size (8 workers) grap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05840"/>
            <a:ext cx="7863840" cy="31455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245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Heavy: OpenMP 4.0x to 5.2x, MPI 2.1x to 3.2x for every size of 1 M or more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Light: OpenMP needs 5 M or more records to pay off (0.35x at 1 M); MPI never exceeds 0.88x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400" dirty="0"/>
          </a:p>
        </p:txBody>
      </p:sp>
      <p:sp>
        <p:nvSpPr>
          <p:cNvPr id="3" name="Takeaway 1"/>
          <p:cNvSpPr/>
          <p:nvPr/>
        </p:nvSpPr>
        <p:spPr>
          <a:xfrm>
            <a:off x="457200" y="1280160"/>
            <a:ext cx="26517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arker 1"/>
          <p:cNvSpPr/>
          <p:nvPr/>
        </p:nvSpPr>
        <p:spPr>
          <a:xfrm>
            <a:off x="640080" y="146304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OpenMP wins on one machine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3.96x with no data movement. Threads share memory.</a:t>
            </a:r>
            <a:endParaRPr lang="en-US" sz="1300" dirty="0"/>
          </a:p>
        </p:txBody>
      </p:sp>
      <p:sp>
        <p:nvSpPr>
          <p:cNvPr id="7" name="Takeaway 2"/>
          <p:cNvSpPr/>
          <p:nvPr/>
        </p:nvSpPr>
        <p:spPr>
          <a:xfrm>
            <a:off x="3246120" y="1280160"/>
            <a:ext cx="26517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arker 2"/>
          <p:cNvSpPr/>
          <p:nvPr/>
        </p:nvSpPr>
        <p:spPr>
          <a:xfrm>
            <a:off x="3429000" y="14630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874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MPI pays for communication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514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of 378 MB is serial: 47% to 90% of its time at 8 processes.</a:t>
            </a:r>
            <a:endParaRPr lang="en-US" sz="1300" dirty="0"/>
          </a:p>
        </p:txBody>
      </p:sp>
      <p:sp>
        <p:nvSpPr>
          <p:cNvPr id="11" name="Takeaway 3"/>
          <p:cNvSpPr/>
          <p:nvPr/>
        </p:nvSpPr>
        <p:spPr>
          <a:xfrm>
            <a:off x="6035040" y="1280160"/>
            <a:ext cx="26517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ker 3"/>
          <p:cNvSpPr/>
          <p:nvPr/>
        </p:nvSpPr>
        <p:spPr>
          <a:xfrm>
            <a:off x="6217920" y="146304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874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per byte decides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514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work scales in both models. Light work only pays in OpenMP.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657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MPI runs share memory inside one machine, so real network cost is not yet included.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GC Parallel">
  <a:themeElements>
    <a:clrScheme name="PGC Parallel">
      <a:dk1>
        <a:srgbClr val="1B2430"/>
      </a:dk1>
      <a:lt1>
        <a:srgbClr val="FFFFFF"/>
      </a:lt1>
      <a:dk2>
        <a:srgbClr val="0F1B2D"/>
      </a:dk2>
      <a:lt2>
        <a:srgbClr val="F1F4F8"/>
      </a:lt2>
      <a:accent1>
        <a:srgbClr val="2A78D6"/>
      </a:accent1>
      <a:accent2>
        <a:srgbClr val="EB6834"/>
      </a:accent2>
      <a:accent3>
        <a:srgbClr val="1BAF7A"/>
      </a:accent3>
      <a:accent4>
        <a:srgbClr val="6B7280"/>
      </a:accent4>
      <a:accent5>
        <a:srgbClr val="4A3AA7"/>
      </a:accent5>
      <a:accent6>
        <a:srgbClr val="EDA100"/>
      </a:accent6>
      <a:hlink>
        <a:srgbClr val="2A78D6"/>
      </a:hlink>
      <a:folHlink>
        <a:srgbClr val="4A3AA7"/>
      </a:folHlink>
    </a:clrScheme>
    <a:fontScheme name="PGC Paralle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787</Words>
  <Application>Microsoft Office PowerPoint</Application>
  <PresentationFormat>On-screen Show (16:9)</PresentationFormat>
  <Paragraphs>79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PGC Parallel</vt:lpstr>
      <vt:lpstr>PowerPoint Presentation</vt:lpstr>
      <vt:lpstr>Problem and dataset</vt:lpstr>
      <vt:lpstr>Parallel design and setup</vt:lpstr>
      <vt:lpstr>Speedup vs sequential</vt:lpstr>
      <vt:lpstr>Efficiency</vt:lpstr>
      <vt:lpstr>Where MPI loses time</vt:lpstr>
      <vt:lpstr>Effect of data size (8 workers)</vt:lpstr>
      <vt:lpstr>Conclusions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OpenMP vs MPI for Data Processing</dc:title>
  <dc:subject>PptxGenJS Presentation</dc:subject>
  <dc:creator>Arun</dc:creator>
  <cp:lastModifiedBy>Kartik Hegde</cp:lastModifiedBy>
  <cp:revision>1</cp:revision>
  <dcterms:created xsi:type="dcterms:W3CDTF">2026-10-09T04:15:06Z</dcterms:created>
  <dcterms:modified xsi:type="dcterms:W3CDTF">2026-10-09T13:35:14Z</dcterms:modified>
</cp:coreProperties>
</file>